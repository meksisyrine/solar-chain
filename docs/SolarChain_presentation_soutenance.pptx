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 min</a:t>
            </a:r>
          </a:p>
          <a:p>
            <a:r>
              <a:t>Objectif oral: ouvrir clairement la soutenance, présenter le périmètre SolarChain et annoncer le fil conducteur technique + métier.</a:t>
            </a:r>
          </a:p>
          <a:p>
            <a:r>
              <a:t>Message clé: SolarChain répond à un besoin de confiance et de transparence dans les échanges d'énergie entre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 min</a:t>
            </a:r>
          </a:p>
          <a:p>
            <a:r>
              <a:t>Objectif oral: cadrer le problème sociotechnique, puis justifier l'usage d'un registre distribué.</a:t>
            </a:r>
          </a:p>
          <a:p>
            <a:r>
              <a:t>Insister sur la valeur académique: alignement entre besoin réel, modèle de données et mécanismes de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1,5 min</a:t>
            </a:r>
          </a:p>
          <a:p>
            <a:r>
              <a:t>Objectif oral: montrer que le modèle d'acteurs est simple mais couvre le cycle complet du marché.</a:t>
            </a:r>
          </a:p>
          <a:p>
            <a:r>
              <a:t>Préciser les permissions: séparation nette des rôles pour limiter les abus et faciliter l'audit.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1,5 min</a:t>
            </a:r>
          </a:p>
          <a:p>
            <a:r>
              <a:t>Objectif oral: décrire la chaîne de valeur de bout en bout, de la production au feedback qualité.</a:t>
            </a:r>
          </a:p>
          <a:p>
            <a:r>
              <a:t>Mettre en avant la logique événementielle: chaque étape produit un état vérifiable on-chain.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 min</a:t>
            </a:r>
          </a:p>
          <a:p>
            <a:r>
              <a:t>Objectif oral: expliciter les compromis d'architecture.</a:t>
            </a:r>
          </a:p>
          <a:p>
            <a:r>
              <a:t>Point clé: garder la preuve et la logique critique on-chain, déplacer les données riches vers IPFS.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1,5 min</a:t>
            </a:r>
          </a:p>
          <a:p>
            <a:r>
              <a:t>Objectif oral: lire l'architecture du point de vue d'un utilisateur jusqu'à la blockchain.</a:t>
            </a:r>
          </a:p>
          <a:p>
            <a:r>
              <a:t>Mermaid (schéma):</a:t>
            </a:r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U[Utilisateur] --&gt; M[MetaMask]</a:t>
            </a:r>
          </a:p>
          <a:p>
            <a:r>
              <a:t>    U --&gt; F[Frontend Angular]</a:t>
            </a:r>
          </a:p>
          <a:p>
            <a:r>
              <a:t>    F --&gt; W[Web3Service / ethers]</a:t>
            </a:r>
          </a:p>
          <a:p>
            <a:r>
              <a:t>    W --&gt; C[(Smart Contracts Ethereum)]</a:t>
            </a:r>
          </a:p>
          <a:p>
            <a:r>
              <a:t>    F --&gt; P[Pinata API]</a:t>
            </a:r>
          </a:p>
          <a:p>
            <a:r>
              <a:t>    P --&gt; I[(IPFS)]</a:t>
            </a:r>
          </a:p>
          <a:p>
            <a:r>
              <a:t>    C --&gt; A[(Adresses + ABIs exportées)]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1,5 min</a:t>
            </a:r>
          </a:p>
          <a:p>
            <a:r>
              <a:t>Objectif oral: présenter les responsabilités de chaque contrat et leurs interactions.</a:t>
            </a:r>
          </a:p>
          <a:p>
            <a:r>
              <a:t>Mermaid (UML simplifié):</a:t>
            </a:r>
          </a:p>
          <a:p>
            <a:r>
              <a:t>```mermaid</a:t>
            </a:r>
          </a:p>
          <a:p>
            <a:r>
              <a:t>classDiagram</a:t>
            </a:r>
          </a:p>
          <a:p>
            <a:r>
              <a:t>    class MeterOracle {</a:t>
            </a:r>
          </a:p>
          <a:p>
            <a:r>
              <a:t>      +registerProducer()</a:t>
            </a:r>
          </a:p>
          <a:p>
            <a:r>
              <a:t>      +submitReading()</a:t>
            </a:r>
          </a:p>
          <a:p>
            <a:r>
              <a:t>      +isProducerRegistered()</a:t>
            </a:r>
          </a:p>
          <a:p>
            <a:r>
              <a:t>    }</a:t>
            </a:r>
          </a:p>
          <a:p>
            <a:r>
              <a:t>    class EnergyToken {</a:t>
            </a:r>
          </a:p>
          <a:p>
            <a:r>
              <a:t>      +mintFromReading()</a:t>
            </a:r>
          </a:p>
          <a:p>
            <a:r>
              <a:t>      +transfer()</a:t>
            </a:r>
          </a:p>
          <a:p>
            <a:r>
              <a:t>    }</a:t>
            </a:r>
          </a:p>
          <a:p>
            <a:r>
              <a:t>    class EnergyMarket {</a:t>
            </a:r>
          </a:p>
          <a:p>
            <a:r>
              <a:t>      +createOffer()</a:t>
            </a:r>
          </a:p>
          <a:p>
            <a:r>
              <a:t>      +buyEnergy()</a:t>
            </a:r>
          </a:p>
          <a:p>
            <a:r>
              <a:t>      +cancelOffer()</a:t>
            </a:r>
          </a:p>
          <a:p>
            <a:r>
              <a:t>    }</a:t>
            </a:r>
          </a:p>
          <a:p>
            <a:r>
              <a:t>    class EnergyCertificate {</a:t>
            </a:r>
          </a:p>
          <a:p>
            <a:r>
              <a:t>      +mintCertificate()</a:t>
            </a:r>
          </a:p>
          <a:p>
            <a:r>
              <a:t>    }</a:t>
            </a:r>
          </a:p>
          <a:p>
            <a:r>
              <a:t>    class ReputationSystem {</a:t>
            </a:r>
          </a:p>
          <a:p>
            <a:r>
              <a:t>      +recordTrade()</a:t>
            </a:r>
          </a:p>
          <a:p>
            <a:r>
              <a:t>      +rateProducer()</a:t>
            </a:r>
          </a:p>
          <a:p>
            <a:r>
              <a:t>      +getProducerAverage()</a:t>
            </a:r>
          </a:p>
          <a:p>
            <a:r>
              <a:t>    }</a:t>
            </a:r>
          </a:p>
          <a:p>
            <a:r>
              <a:t>    class ProducerProfile {</a:t>
            </a:r>
          </a:p>
          <a:p>
            <a:r>
              <a:t>      +setProfileCID()</a:t>
            </a:r>
          </a:p>
          <a:p>
            <a:r>
              <a:t>      +getProfileCID()</a:t>
            </a:r>
          </a:p>
          <a:p>
            <a:r>
              <a:t>    }</a:t>
            </a:r>
          </a:p>
          <a:p>
            <a:r>
              <a:t>    MeterOracle --&gt; EnergyToken : lecture -&gt; mint</a:t>
            </a:r>
          </a:p>
          <a:p>
            <a:r>
              <a:t>    EnergyMarket --&gt; EnergyToken : échange SKWH</a:t>
            </a:r>
          </a:p>
          <a:p>
            <a:r>
              <a:t>    EnergyMarket --&gt; EnergyCertificate : mint NFT</a:t>
            </a:r>
          </a:p>
          <a:p>
            <a:r>
              <a:t>    EnergyMarket --&gt; ReputationSystem : enregistre trade</a:t>
            </a:r>
          </a:p>
          <a:p>
            <a:r>
              <a:t>    ProducerProfile --&gt; MeterOracle : producteur enregistré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1,25 min</a:t>
            </a:r>
          </a:p>
          <a:p>
            <a:r>
              <a:t>Objectif oral: montrer la rigueur d'ingénierie (pipeline local, validations, reproductibilité).</a:t>
            </a:r>
          </a:p>
          <a:p>
            <a:r>
              <a:t>Insister sur la robustesse: les vérifications critiques sont dans les contrats, pas uniquement dans l'UI.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1,25 min</a:t>
            </a:r>
          </a:p>
          <a:p>
            <a:r>
              <a:t>Objectif oral: expliquer l'orchestration frontend entre UX, Web3 et stockage distribué.</a:t>
            </a:r>
          </a:p>
          <a:p>
            <a:r>
              <a:t>Mermaid (flux technique):</a:t>
            </a:r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User as Utilisateur</a:t>
            </a:r>
          </a:p>
          <a:p>
            <a:r>
              <a:t>    participant UI as Frontend Angular</a:t>
            </a:r>
          </a:p>
          <a:p>
            <a:r>
              <a:t>    participant MM as MetaMask</a:t>
            </a:r>
          </a:p>
          <a:p>
            <a:r>
              <a:t>    participant SC as Smart Contracts</a:t>
            </a:r>
          </a:p>
          <a:p>
            <a:r>
              <a:t>    participant PI as Pinata/IPFS</a:t>
            </a:r>
          </a:p>
          <a:p/>
          <a:p>
            <a:r>
              <a:t>    User-&gt;&gt;UI: Saisie profil producteur</a:t>
            </a:r>
          </a:p>
          <a:p>
            <a:r>
              <a:t>    UI-&gt;&gt;PI: Upload image + JSON</a:t>
            </a:r>
          </a:p>
          <a:p>
            <a:r>
              <a:t>    PI--&gt;&gt;UI: Retour CID</a:t>
            </a:r>
          </a:p>
          <a:p>
            <a:r>
              <a:t>    UI-&gt;&gt;MM: Demande signature tx</a:t>
            </a:r>
          </a:p>
          <a:p>
            <a:r>
              <a:t>    MM-&gt;&gt;SC: setProfileCID(CID)</a:t>
            </a:r>
          </a:p>
          <a:p>
            <a:r>
              <a:t>    SC--&gt;&gt;UI: Transaction confirmée</a:t>
            </a:r>
          </a:p>
          <a:p>
            <a:r>
              <a:t>    UI--&gt;&gt;User: Profil publié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 min</a:t>
            </a:r>
          </a:p>
          <a:p>
            <a:r>
              <a:t>Objectif oral: fournir des preuves de fonctionnement, pas seulement une description.</a:t>
            </a:r>
          </a:p>
          <a:p>
            <a:r>
              <a:t>Mentionner brièvement les limites de validation dues à l'environnement (ex: dépendances réseau externes).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1,25 min</a:t>
            </a:r>
          </a:p>
          <a:p>
            <a:r>
              <a:t>Objectif oral: rassurer le jury sur la maîtrise opérationnelle de la démo.</a:t>
            </a:r>
          </a:p>
          <a:p>
            <a:r>
              <a:t>Prévoir un plan B: captures/transactions déjà prêtes en cas d'aléa MetaMask ou réseau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Durée: 1,25 min</a:t>
            </a:r>
          </a:p>
          <a:p>
            <a:r>
              <a:t>Objectif oral: conclure avec recul critique et vision d'évolution.</a:t>
            </a:r>
          </a:p>
          <a:p>
            <a:r>
              <a:t>Questions probables à préparer:</a:t>
            </a:r>
          </a:p>
          <a:p>
            <a:r>
              <a:t>- Pourquoi Ethereum plutôt qu'une base centralisée?</a:t>
            </a:r>
          </a:p>
          <a:p>
            <a:r>
              <a:t>- Comment gérer le passage à l'échelle et les frais?</a:t>
            </a:r>
          </a:p>
          <a:p>
            <a:r>
              <a:t>- Quels mécanismes anti-fraude sur les lectures producteur?</a:t>
            </a:r>
          </a:p>
          <a:p>
            <a:r>
              <a:t>- Comment renforcer la conformité réglementaire et la protection des données?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SolarChain — Soutenance académique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dApp Ethereum pour marché local d'énergie solaire</a:t>
            </a:r>
          </a:p>
          <a:p>
            <a:pPr/>
            <a:r>
              <a:t>Tokenisation des kWh en SKWH</a:t>
            </a:r>
          </a:p>
          <a:p>
            <a:pPr/>
            <a:r>
              <a:t>Traçabilité, certificats NFT et réputation on-chain</a:t>
            </a:r>
          </a:p>
          <a:p>
            <a:pPr/>
            <a:r>
              <a:t>Durée cible: 1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et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Transition énergétique et production décentralisée</a:t>
            </a:r>
          </a:p>
          <a:p>
            <a:pPr/>
            <a:r>
              <a:t>Limites des systèmes centralisés (opacité, lenteur)</a:t>
            </a:r>
          </a:p>
          <a:p>
            <a:pPr/>
            <a:r>
              <a:t>Choix d'Ethereum pour automatiser les échanges</a:t>
            </a:r>
          </a:p>
          <a:p>
            <a:pPr/>
            <a:r>
              <a:t>Durée cible: 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besoin — acteurs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Admin: enregistre producteurs, soumet lectures</a:t>
            </a:r>
          </a:p>
          <a:p>
            <a:pPr/>
            <a:r>
              <a:t>Producteur: publie offres, vend des kWh tokenisés</a:t>
            </a:r>
          </a:p>
          <a:p>
            <a:pPr/>
            <a:r>
              <a:t>Consommateur: achète, consulte historique, note</a:t>
            </a:r>
          </a:p>
          <a:p>
            <a:pPr/>
            <a:r>
              <a:t>Wallet MetaMask: identité et signature des actions</a:t>
            </a:r>
          </a:p>
          <a:p>
            <a:pPr/>
            <a:r>
              <a:t>Durée cible: 1,5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besoin — flux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Enregistrement producteur + lecture de compteur</a:t>
            </a:r>
          </a:p>
          <a:p>
            <a:pPr/>
            <a:r>
              <a:t>2) Mint SKWH et création d'offre</a:t>
            </a:r>
          </a:p>
          <a:p>
            <a:pPr/>
            <a:r>
              <a:t>3) Achat d'énergie par consommateur</a:t>
            </a:r>
          </a:p>
          <a:p>
            <a:pPr/>
            <a:r>
              <a:t>4) Certificat NFT + notation post-achat</a:t>
            </a:r>
          </a:p>
          <a:p>
            <a:pPr/>
            <a:r>
              <a:t>Durée cible: 1,5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Contraintes et exigences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Sécurité: contrôle d'accès par rôle on-chain</a:t>
            </a:r>
          </a:p>
          <a:p>
            <a:pPr/>
            <a:r>
              <a:t>Fiabilité: transactions atomiques et traçables</a:t>
            </a:r>
          </a:p>
          <a:p>
            <a:pPr/>
            <a:r>
              <a:t>UX: gestion réseau MetaMask et erreurs utilisateur</a:t>
            </a:r>
          </a:p>
          <a:p>
            <a:pPr/>
            <a:r>
              <a:t>Scalabilité: stockage hybride on-chain/off-chain</a:t>
            </a:r>
          </a:p>
          <a:p>
            <a:pPr/>
            <a:r>
              <a:t>Durée cible: 1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système — vue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 Angular 20 (UI + services Web3)</a:t>
            </a:r>
          </a:p>
          <a:p>
            <a:pPr/>
            <a:r>
              <a:t>Smart contracts Solidity (Hardhat local)</a:t>
            </a:r>
          </a:p>
          <a:p>
            <a:pPr/>
            <a:r>
              <a:t>MetaMask pour signer les transactions</a:t>
            </a:r>
          </a:p>
          <a:p>
            <a:pPr/>
            <a:r>
              <a:t>IPFS/Pinata pour profils producteurs</a:t>
            </a:r>
          </a:p>
          <a:p>
            <a:pPr/>
            <a:r>
              <a:t>Durée cible: 1,5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blockchain et rôles (UML logique)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EnergyToken (SKWH), MeterOracle, EnergyMarket</a:t>
            </a:r>
          </a:p>
          <a:p>
            <a:pPr/>
            <a:r>
              <a:t>EnergyCertificate (NFT) et ReputationSystem</a:t>
            </a:r>
          </a:p>
          <a:p>
            <a:pPr/>
            <a:r>
              <a:t>ProducerProfile: CID IPFS on-chain</a:t>
            </a:r>
          </a:p>
          <a:p>
            <a:pPr/>
            <a:r>
              <a:t>Permissions: Admin / Producteur / Consommateur</a:t>
            </a:r>
          </a:p>
          <a:p>
            <a:pPr/>
            <a:r>
              <a:t>Durée cible: 1,5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technique — smart contracts &amp;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Développement et tests avec Hardhat</a:t>
            </a:r>
          </a:p>
          <a:p>
            <a:pPr/>
            <a:r>
              <a:t>Scripts: deploy, configure, seed, export</a:t>
            </a:r>
          </a:p>
          <a:p>
            <a:pPr/>
            <a:r>
              <a:t>Bootstrap local pour environnement reproductible</a:t>
            </a:r>
          </a:p>
          <a:p>
            <a:pPr/>
            <a:r>
              <a:t>Règles métier validées on-chain (ex: note unique)</a:t>
            </a:r>
          </a:p>
          <a:p>
            <a:pPr/>
            <a:r>
              <a:t>Durée cible: 1,25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technique — frontend Web3 &amp; IPFS/Pinata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Angular standalone + Material/Tailwind</a:t>
            </a:r>
          </a:p>
          <a:p>
            <a:pPr/>
            <a:r>
              <a:t>Web3Service: connexion wallet, réseau, transactions</a:t>
            </a:r>
          </a:p>
          <a:p>
            <a:pPr/>
            <a:r>
              <a:t>Guards de rôle et feedback UX (spinner/toasts)</a:t>
            </a:r>
          </a:p>
          <a:p>
            <a:pPr/>
            <a:r>
              <a:t>Upload profils (image + JSON) sur IPFS via Pinata</a:t>
            </a:r>
          </a:p>
          <a:p>
            <a:pPr/>
            <a:r>
              <a:t>Durée cible: 1,25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et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Flux E2E validé: admin -&gt; producteur -&gt; consommateur</a:t>
            </a:r>
          </a:p>
          <a:p>
            <a:pPr/>
            <a:r>
              <a:t>Build frontend validé en environnement local</a:t>
            </a:r>
          </a:p>
          <a:p>
            <a:pPr/>
            <a:r>
              <a:t>Tests contrats couvrent règles métier centrales</a:t>
            </a:r>
          </a:p>
          <a:p>
            <a:pPr/>
            <a:r>
              <a:t>Traçabilité: historique des trades + réputation</a:t>
            </a:r>
          </a:p>
          <a:p>
            <a:pPr/>
            <a:r>
              <a:t>Durée cible: 1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démo live (soutenance)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Préparer: node Hardhat + bootstrap + frontend</a:t>
            </a:r>
          </a:p>
          <a:p>
            <a:pPr/>
            <a:r>
              <a:t>Démo 1: Admin enregistre un producteur</a:t>
            </a:r>
          </a:p>
          <a:p>
            <a:pPr/>
            <a:r>
              <a:t>Démo 2: Producteur publie une offre</a:t>
            </a:r>
          </a:p>
          <a:p>
            <a:pPr/>
            <a:r>
              <a:t>Démo 3: Consommateur achète puis note</a:t>
            </a:r>
          </a:p>
          <a:p>
            <a:pPr/>
            <a:r>
              <a:t>Vérif finale: historique + profil IPFS</a:t>
            </a:r>
          </a:p>
          <a:p>
            <a:pPr/>
            <a:r>
              <a:t>Durée cible: 1,25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limites, roadmap et Q&amp;R probables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Apport: marché local transparent, automatisé, traçable</a:t>
            </a:r>
          </a:p>
          <a:p>
            <a:pPr/>
            <a:r>
              <a:t>Limites: réseau local, dépendance wallet, coût gas</a:t>
            </a:r>
          </a:p>
          <a:p>
            <a:pPr/>
            <a:r>
              <a:t>Roadmap: testnet public, indexation, analytics</a:t>
            </a:r>
          </a:p>
          <a:p>
            <a:pPr/>
            <a:r>
              <a:t>Q&amp;R probables: sécurité, scalabilité, gouvernance</a:t>
            </a:r>
          </a:p>
          <a:p>
            <a:pPr/>
            <a:r>
              <a:t>Durée cible: 1,25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